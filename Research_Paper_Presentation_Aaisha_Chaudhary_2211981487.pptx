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BEE7"/>
    <a:srgbClr val="8AB2E2"/>
    <a:srgbClr val="78A6DE"/>
    <a:srgbClr val="75A4DD"/>
    <a:srgbClr val="2A66AC"/>
    <a:srgbClr val="2E6CB8"/>
    <a:srgbClr val="2A65AC"/>
    <a:srgbClr val="255997"/>
    <a:srgbClr val="3379CD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EDF (Baseline)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760-4F47-A820-678DE7376F5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60-4F47-A820-678DE7376F5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D760-4F47-A820-678DE7376F5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D760-4F47-A820-678DE7376F5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EDF (Baseline)</c:v>
                </c:pt>
                <c:pt idx="1">
                  <c:v>SVM Only</c:v>
                </c:pt>
                <c:pt idx="2">
                  <c:v>RF Only</c:v>
                </c:pt>
                <c:pt idx="3">
                  <c:v>Proposed RF+SVM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81.400000000000006</c:v>
                </c:pt>
                <c:pt idx="2">
                  <c:v>85.7</c:v>
                </c:pt>
                <c:pt idx="3">
                  <c:v>92.3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60-4F47-A820-678DE7376F5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2026-05-10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2026-05-10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Intelligent Task Prioritization Framework Using Machine Learning for Enhanced Productivity</a:t>
            </a:r>
            <a:endParaRPr lang="en-US" sz="28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Aaisha Chaudhary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2211981487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Background: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User face decision fatigue, the decline in decision quality after prolonged choice making. Sorting through a large set of tasks is as draining as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the work itself.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Gap in Existing Tools: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Traditional tools (to-do lists, calendars) are passive. They store tasks but do not prioritize them automatically. They sort purely by dates or fixed flags, failing to capture the multi-dimensional nature of real-world productivity.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Proposed Solution: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An Intelligent Task Prioritization Framework using a non-linear Weighted Sum Model (WSM), hybrid ML pipeline (RF + SVM), and DFS-based deadlock detection.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65888-33C5-9F4A-D98B-43F8F8EE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01AF7BC-058B-36CB-1F5C-9A26799AA6B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8B4F10D-C1C1-8181-FF46-BAD613B6D04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B80850E-0CC7-AF42-4871-16442B81B73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0C742E51-81BC-3535-10BB-09BF352223DC}"/>
              </a:ext>
            </a:extLst>
          </p:cNvPr>
          <p:cNvSpPr txBox="1"/>
          <p:nvPr/>
        </p:nvSpPr>
        <p:spPr>
          <a:xfrm>
            <a:off x="-19596" y="1261535"/>
            <a:ext cx="9155128" cy="569673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Cognitive Bias in Qualitative Frameworks: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Methods like the Eisenhower Matrix rely on personal judgment, leading to urgency bias where users favor low value urgent tasks over high impact goals.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Dimensional Rigidity in Scheduling: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Algorithms like EDF focus only on deadlines and ignore effort, importance, and task dependencies.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Dependency Deadlock Problem: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Existing tools lack graph-based logic to detect circular task dependencies, causing workflow deadlocks (e.g., Task A depends on B, which depends on A).</a:t>
            </a:r>
          </a:p>
        </p:txBody>
      </p:sp>
    </p:spTree>
    <p:extLst>
      <p:ext uri="{BB962C8B-B14F-4D97-AF65-F5344CB8AC3E}">
        <p14:creationId xmlns:p14="http://schemas.microsoft.com/office/powerpoint/2010/main" val="116614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3F31-BEBB-CD49-9D72-D38643DE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112AB7B-318C-AFC5-168D-2E5AAFED443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ADDF75B-C3E9-4645-258F-9FEDCE2A63D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AC83B81-81ED-0EDE-30D8-2EC8399EE1D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9E23A8-FAEB-9E14-2763-0B2BD11D3A9B}"/>
              </a:ext>
            </a:extLst>
          </p:cNvPr>
          <p:cNvSpPr/>
          <p:nvPr/>
        </p:nvSpPr>
        <p:spPr>
          <a:xfrm>
            <a:off x="457200" y="2294467"/>
            <a:ext cx="2136648" cy="21280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multi factor engine based on Urgency, Importance, Effort and Dependencies.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DD4FE5-6B2D-A57D-1C4F-9167DA774222}"/>
              </a:ext>
            </a:extLst>
          </p:cNvPr>
          <p:cNvSpPr/>
          <p:nvPr/>
        </p:nvSpPr>
        <p:spPr>
          <a:xfrm>
            <a:off x="3240024" y="2294467"/>
            <a:ext cx="2136648" cy="2133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ML Pipeline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Random Forest for classification and SVM for intra bucket ranking.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16A91-E632-1A0D-A9CF-0A27C0A3263D}"/>
              </a:ext>
            </a:extLst>
          </p:cNvPr>
          <p:cNvSpPr/>
          <p:nvPr/>
        </p:nvSpPr>
        <p:spPr>
          <a:xfrm>
            <a:off x="5960510" y="2288901"/>
            <a:ext cx="2136648" cy="2133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Prevention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DFS based circular dependency detection to ensure scheduling validity.</a:t>
            </a:r>
          </a:p>
        </p:txBody>
      </p:sp>
    </p:spTree>
    <p:extLst>
      <p:ext uri="{BB962C8B-B14F-4D97-AF65-F5344CB8AC3E}">
        <p14:creationId xmlns:p14="http://schemas.microsoft.com/office/powerpoint/2010/main" val="45257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895B-D466-707F-8B8D-8C9120EBC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A614D63-01D1-26F0-F052-01EEF476176E}"/>
              </a:ext>
            </a:extLst>
          </p:cNvPr>
          <p:cNvSpPr txBox="1"/>
          <p:nvPr/>
        </p:nvSpPr>
        <p:spPr>
          <a:xfrm>
            <a:off x="457200" y="0"/>
            <a:ext cx="6019560" cy="77046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Scoring Engine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72EA8BB-C11B-20B4-8F3E-F9037AE1C03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0FE11E1-D8DC-03D4-A66A-1CF2264E12B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Layer (Vanilla JS) -&gt; Business Logic Layer (Django REST Framework) -&gt; Data Layer (MySQL).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Sum Model(WSM):</a:t>
            </a:r>
          </a:p>
          <a:p>
            <a:pPr marL="139700" lvl="0">
              <a:buClr>
                <a:srgbClr val="000000"/>
              </a:buClr>
              <a:buSzPts val="1400"/>
            </a:pPr>
            <a:b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a) Urgency (U): Deadline proximity (Normalized 0 – 100).</a:t>
            </a:r>
            <a:b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(I): Exponentially scaled long-term significance.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c) Effort (E): Inversely scored mental/physical resources required.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d) Dependency (D)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Bottleneck factor for downstream tasks.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B6AFD-A4E4-01E8-6102-F29B0BAEFFFC}"/>
              </a:ext>
            </a:extLst>
          </p:cNvPr>
          <p:cNvSpPr txBox="1"/>
          <p:nvPr/>
        </p:nvSpPr>
        <p:spPr>
          <a:xfrm>
            <a:off x="2288902" y="2882696"/>
            <a:ext cx="4848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ighlight>
                  <a:srgbClr val="75A4DD"/>
                </a:highlight>
              </a:rPr>
              <a:t>S = (U * Wu) + (I * Wi) + (E * We) + (D * Wd)</a:t>
            </a:r>
          </a:p>
        </p:txBody>
      </p:sp>
    </p:spTree>
    <p:extLst>
      <p:ext uri="{BB962C8B-B14F-4D97-AF65-F5344CB8AC3E}">
        <p14:creationId xmlns:p14="http://schemas.microsoft.com/office/powerpoint/2010/main" val="231957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35EF-463D-49B0-B5B2-FFABABC6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D04CD6C-6274-33C5-A683-145B4074E69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ptimization Strategies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D52C64D-AD13-5DE2-4ABE-2D7E2574A49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8A93EA4-DEEA-DB74-6808-FD1A2A33EEA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5F2FC0-37A5-3E47-5135-F53782393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128969"/>
              </p:ext>
            </p:extLst>
          </p:nvPr>
        </p:nvGraphicFramePr>
        <p:xfrm>
          <a:off x="451881" y="1262861"/>
          <a:ext cx="82264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4039977109"/>
                    </a:ext>
                  </a:extLst>
                </a:gridCol>
                <a:gridCol w="1610008">
                  <a:extLst>
                    <a:ext uri="{9D8B030D-6E8A-4147-A177-3AD203B41FA5}">
                      <a16:colId xmlns:a16="http://schemas.microsoft.com/office/drawing/2014/main" val="3364405895"/>
                    </a:ext>
                  </a:extLst>
                </a:gridCol>
                <a:gridCol w="1806152">
                  <a:extLst>
                    <a:ext uri="{9D8B030D-6E8A-4147-A177-3AD203B41FA5}">
                      <a16:colId xmlns:a16="http://schemas.microsoft.com/office/drawing/2014/main" val="2108021950"/>
                    </a:ext>
                  </a:extLst>
                </a:gridCol>
                <a:gridCol w="1250412">
                  <a:extLst>
                    <a:ext uri="{9D8B030D-6E8A-4147-A177-3AD203B41FA5}">
                      <a16:colId xmlns:a16="http://schemas.microsoft.com/office/drawing/2014/main" val="1459665801"/>
                    </a:ext>
                  </a:extLst>
                </a:gridCol>
                <a:gridCol w="2369716">
                  <a:extLst>
                    <a:ext uri="{9D8B030D-6E8A-4147-A177-3AD203B41FA5}">
                      <a16:colId xmlns:a16="http://schemas.microsoft.com/office/drawing/2014/main" val="3044965677"/>
                    </a:ext>
                  </a:extLst>
                </a:gridCol>
              </a:tblGrid>
              <a:tr h="56218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Urgency(Wu)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Importance(Wi)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Effort(We)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Dependency(Wd)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379767"/>
                  </a:ext>
                </a:extLst>
              </a:tr>
              <a:tr h="56218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135643"/>
                  </a:ext>
                </a:extLst>
              </a:tr>
              <a:tr h="56218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Fastest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601650"/>
                  </a:ext>
                </a:extLst>
              </a:tr>
              <a:tr h="56218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38421"/>
                  </a:ext>
                </a:extLst>
              </a:tr>
              <a:tr h="56218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 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8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42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8005-879C-D101-0310-1C7045AE5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F7C83A9-E514-3147-39EF-2113A359AF5A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achine Learning Pipeline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F459B8C-8C75-E8E9-B6B8-6759B4188BC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9923729-9627-DC61-6256-F6B88B8795DF}"/>
              </a:ext>
            </a:extLst>
          </p:cNvPr>
          <p:cNvSpPr txBox="1"/>
          <p:nvPr/>
        </p:nvSpPr>
        <p:spPr>
          <a:xfrm>
            <a:off x="152640" y="113831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v"/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1 - Random Forest Classifier: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features (U, I, E, D) are classified into three priority buckets: High, Medium, Low. RF is chosen for robustness with small, noisy datasets.</a:t>
            </a: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2 - SVM Intra-Bucket Ranker: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Rank SVM formulation, tasks within each bucket are ranked 1 to N using an optimal separating hyperplane based on feature scores.</a:t>
            </a: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 Circular Dependency Detection: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 runs before any ranking. It detects circular dependencies (e.g., Task A depends on B, B depends on A) in O(V+E) time and alerts the user.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 Flow: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Input -&gt; WSM Score Calculation -&gt; DFS Check -&gt; RF Classification -&gt; SVM Ranking -&gt; Final Prioritized Task List.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247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D907-ACE8-4184-37CB-B12F6595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37A7332F-92A4-5A20-F3ED-40838453262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Performance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8D1E973-0F35-B2A7-A615-1F7A97446BC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1948771-ED6E-C04E-6F95-C5174B8C3E43}"/>
              </a:ext>
            </a:extLst>
          </p:cNvPr>
          <p:cNvSpPr txBox="1"/>
          <p:nvPr/>
        </p:nvSpPr>
        <p:spPr>
          <a:xfrm>
            <a:off x="113206" y="1109743"/>
            <a:ext cx="8838720" cy="250552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E6A184DB-F659-48C0-DDAD-A75B1CE6DB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519023"/>
              </p:ext>
            </p:extLst>
          </p:nvPr>
        </p:nvGraphicFramePr>
        <p:xfrm>
          <a:off x="365760" y="960119"/>
          <a:ext cx="8046720" cy="2655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1C5B65-6828-EFF7-FC4C-5EC41B07EABD}"/>
              </a:ext>
            </a:extLst>
          </p:cNvPr>
          <p:cNvSpPr txBox="1"/>
          <p:nvPr/>
        </p:nvSpPr>
        <p:spPr>
          <a:xfrm>
            <a:off x="0" y="3639509"/>
            <a:ext cx="895192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Prioritization Accuracy: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The proposed RF+SVM hybrid achieved 92.3% accuracy on a synthetic dataset of 1,000 tasks, compared to 68% for EDF baseline, 81.4% for SVM only, and 85.7% for RF only.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Task Separability: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40% improvement in separability between critical and non-critical tasks vs. linear scoring, achieved through exponential importance scaling.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Manual Planning Time Reduction: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35% reduction in time spent on manual task management. DFS Detector achieved 100% deadlock detection accuracy on all injected circular dependencies.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Best Strategy Performance: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Smart Balance delivered consistent 92.3% accuracy across all task profiles. Deadline Driven excelled in high-urgency simulations; High Impact led in long-horizon project planning.</a:t>
            </a:r>
          </a:p>
        </p:txBody>
      </p:sp>
    </p:spTree>
    <p:extLst>
      <p:ext uri="{BB962C8B-B14F-4D97-AF65-F5344CB8AC3E}">
        <p14:creationId xmlns:p14="http://schemas.microsoft.com/office/powerpoint/2010/main" val="397474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C582-AE39-E026-B9BD-F7397D5D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9F50771-A6DD-06F3-D68B-5EF5552CD5E1}"/>
              </a:ext>
            </a:extLst>
          </p:cNvPr>
          <p:cNvSpPr txBox="1"/>
          <p:nvPr/>
        </p:nvSpPr>
        <p:spPr>
          <a:xfrm>
            <a:off x="-140208" y="71967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2A62D11-5503-65E7-DB00-1CE194C8A9C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265B38A-BE26-0289-43EB-B7815A94778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hybrid RF+SVM framework with WSM scoring and DFS-based deadlock resolution achieves 92.3% accuracy, outperforming all baseline methods with minimal data requirements.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 - Synthetic Data: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on simulated student workloads; real-world validation across professional, clinical, and creative domains is needed.</a:t>
            </a:r>
          </a:p>
          <a:p>
            <a:pPr marL="425450" lvl="0" indent="-28575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1 - Energy Tracking: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user energy and cognitive load signals (physiological, telemetry, mood check-ins) to enable adaptive scheduling.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217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3107266"/>
            <a:ext cx="6705599" cy="1125099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34850</TotalTime>
  <Words>856</Words>
  <Application>Microsoft Office PowerPoint</Application>
  <PresentationFormat>On-screen Show (4:3)</PresentationFormat>
  <Paragraphs>179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Chaudhary, Aaisha</cp:lastModifiedBy>
  <cp:revision>2300</cp:revision>
  <dcterms:created xsi:type="dcterms:W3CDTF">2010-04-09T07:36:15Z</dcterms:created>
  <dcterms:modified xsi:type="dcterms:W3CDTF">2026-05-10T09:25:13Z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